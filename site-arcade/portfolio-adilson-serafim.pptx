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Portfólio de Adilson Serafim Jr.,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sou eu: trajetória e ponto de vista sobre comunidade e influência.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dos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ZMES — LEAPMOTOR — Marketing de Influência (dezembro de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ZMES — TESOURO DIRETO — Community Manager (jun 2026, no 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TIKTOK BRASIL — Community Manager Pleno · ℓiⱴε (mai 2025 a jul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 PLAY — Community Manager (jul 2023 a fev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 VAREJO — Analista de Marketing (jan 2022 a mar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MUTATO — BRAHMA — Community Manager (mai a jun 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Inventário: ferramentas por nível de domínio e atributos.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Marcas atendidas: Stellantis, TikTok, Tesouro Direto, Casas Bahia, Ponto Frio, Warner Play, Suzano, Royal Enfield, Native, Barilla, Sompo Seguros, Brahma, Instituto Socioambiental.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Placar: números reais, sem arredondar para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cena: as duas campanhas nacionais em que atuei como elenco.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Contato: aserafimjr@hotmail.com · (11) 97599-9561 · https://site-portf-lio-adilson.vercel.app/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hyperlink" Target="https://youtu.be/yD-STBTMjO0?t=14369" TargetMode="External"/><Relationship Id="rId7" Type="http://schemas.openxmlformats.org/officeDocument/2006/relationships/hyperlink" Target="https://youtu.be/yD-STBTMjO0?t=14369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www.youtube.com/playlist?list=PLXEscQRSPytlQAWU0IlBYWQ-SiNnGBAYR" TargetMode="External"/><Relationship Id="rId7" Type="http://schemas.openxmlformats.org/officeDocument/2006/relationships/hyperlink" Target="https://www.youtube.com/playlist?list=PLXEscQRSPytlQAWU0IlBYWQ-SiNnGBAYR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8" Type="http://schemas.openxmlformats.org/officeDocument/2006/relationships/image" Target="../media/image-9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b9.com.br/campanha-da-amstel-ultra-incentiva-consumidores-a-pararem-de-contar-calorias/" TargetMode="External"/><Relationship Id="rId6" Type="http://schemas.openxmlformats.org/officeDocument/2006/relationships/hyperlink" Target="https://g1.globo.com/rs/rio-grande-do-sul/noticia/2026/05/29/tv-globo-lanca-fique-antenado-para-ampliar-o-acesso-a-tv-aberta-no-brasil.ghtml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jpg"/><Relationship Id="rId5" Type="http://schemas.openxmlformats.org/officeDocument/2006/relationships/image" Target="../media/image-13-4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hyperlink" Target="mailto:aserafimjr@hotmail.com" TargetMode="External"/><Relationship Id="rId5" Type="http://schemas.openxmlformats.org/officeDocument/2006/relationships/hyperlink" Target="tel:+5511975999561" TargetMode="External"/><Relationship Id="rId6" Type="http://schemas.openxmlformats.org/officeDocument/2006/relationships/hyperlink" Target="https://www.instagram.com/issoeadilson" TargetMode="External"/><Relationship Id="rId7" Type="http://schemas.openxmlformats.org/officeDocument/2006/relationships/hyperlink" Target="https://www.linkedin.com/in/adilson-serafim-junior-672799130/" TargetMode="External"/><Relationship Id="rId8" Type="http://schemas.openxmlformats.org/officeDocument/2006/relationships/hyperlink" Target="https://site-portf-lio-adilson.vercel.app/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9" Type="http://schemas.openxmlformats.org/officeDocument/2006/relationships/image" Target="../media/image-14-4.png"/><Relationship Id="rId10" Type="http://schemas.openxmlformats.org/officeDocument/2006/relationships/image" Target="../media/image-14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nome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658112" cy="155448"/>
          </a:xfrm>
          <a:prstGeom prst="rect">
            <a:avLst/>
          </a:prstGeom>
        </p:spPr>
      </p:pic>
      <p:pic>
        <p:nvPicPr>
          <p:cNvPr id="3" name="Image 1" descr="/home/user/site-portf-lio-adilson/site-arcade/ppt/img/a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069" y="420624"/>
            <a:ext cx="366698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t-portfol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408" y="1051560"/>
            <a:ext cx="7040880" cy="151950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66928" y="1811313"/>
            <a:ext cx="15970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0027768" y="1811313"/>
            <a:ext cx="15970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7" name="Image 3" descr="/home/user/site-portf-lio-adilson/site-arcade/ppt/img/f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20440"/>
            <a:ext cx="2103120" cy="2620137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081528" y="3630168"/>
            <a:ext cx="5989320" cy="749808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9" name="Text 3"/>
          <p:cNvSpPr txBox="1"/>
          <p:nvPr/>
        </p:nvSpPr>
        <p:spPr>
          <a:xfrm>
            <a:off x="3264408" y="3630168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ADILSON SERAFIM JR.</a:t>
            </a:r>
            <a:endParaRPr lang="en-US" sz="3300" dirty="0"/>
          </a:p>
        </p:txBody>
      </p:sp>
      <p:sp>
        <p:nvSpPr>
          <p:cNvPr id="10" name="Text 4"/>
          <p:cNvSpPr txBox="1"/>
          <p:nvPr/>
        </p:nvSpPr>
        <p:spPr>
          <a:xfrm>
            <a:off x="3081528" y="45079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Influência &amp; Community  |  Criador de Conteúdo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3081528" y="48463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· SP   ·   aserafimjr@hotmail.com   ·   (11) 97599-9561</a:t>
            </a:r>
            <a:endParaRPr lang="en-US" sz="1150" dirty="0"/>
          </a:p>
        </p:txBody>
      </p:sp>
      <p:pic>
        <p:nvPicPr>
          <p:cNvPr id="12" name="Image 4" descr="/home/user/site-portf-lio-adilson/site-arcade/ppt/img/spr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1767" y="3474720"/>
            <a:ext cx="1143000" cy="12526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2439338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qu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4798937" cy="841248"/>
          </a:xfrm>
          <a:prstGeom prst="rect">
            <a:avLst/>
          </a:prstGeom>
        </p:spPr>
      </p:pic>
      <p:pic>
        <p:nvPicPr>
          <p:cNvPr id="4" name="Image 2" descr="/home/user/site-portf-lio-adilson/site-arcade/ppt/img/fot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67128"/>
            <a:ext cx="2743200" cy="341757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858768" y="2121408"/>
            <a:ext cx="7765999" cy="793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com influência a partir de um lugar incomum: passei anos do outro lado, gerindo a comunidade que recebe o conteúdo do creator. Isso me ensinou a diferença entre um perfil com número bonito e um perfil com público que responde.</a:t>
            </a:r>
            <a:endParaRPr lang="en-US" sz="1250" dirty="0"/>
          </a:p>
        </p:txBody>
      </p:sp>
      <p:sp>
        <p:nvSpPr>
          <p:cNvPr id="6" name="Text 1"/>
          <p:cNvSpPr txBox="1"/>
          <p:nvPr/>
        </p:nvSpPr>
        <p:spPr>
          <a:xfrm>
            <a:off x="3858768" y="3097340"/>
            <a:ext cx="7765999" cy="12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Atuei na ativação de 500 microinfluenciadores no lançamento da Leapmotor no Brasil, durante o Salão do Automóvel, cuidando de curadoria, acompanhamento e da conversa em tempo real enquanto a campanha rodava. Antes disso, construí briefings de conteúdo, monitorei trends e fiz prospecção de perfis parceiros para marcas como Royal Enfield, Native, Casas Bahia, Warner Play e, mais recentemente, Tesouro Direto.</a:t>
            </a:r>
            <a:endParaRPr lang="en-US" sz="1250" dirty="0"/>
          </a:p>
        </p:txBody>
      </p:sp>
      <p:sp>
        <p:nvSpPr>
          <p:cNvPr id="7" name="Text 2"/>
          <p:cNvSpPr txBox="1"/>
          <p:nvPr/>
        </p:nvSpPr>
        <p:spPr>
          <a:xfrm>
            <a:off x="3858768" y="4565396"/>
            <a:ext cx="7765999" cy="54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sou criador de conteúdo: gravo, edito e publico o que é meu. Quando eu brifo um creator, sei o que estou pedindo, porque falo de um lugar que já ocupei.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1686013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2211463" cy="8412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029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cases. Um por slide, com as competências antes da campanha.</a:t>
            </a:r>
            <a:endParaRPr lang="en-US" sz="12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688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1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1664208" y="2596896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ZMES — LEAPMOTOR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7269480" y="2688336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Influência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978847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dezembro de 2025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3072384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3255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2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664208" y="3163824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ZMES — TESOURO DIRETO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3255264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978847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2026, no ar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3639312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6928" y="3822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664208" y="3730752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BRASIL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3822192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 Pleno · ℓiⱴε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978847" y="3822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2025 a jul 2025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66928" y="4206240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6928" y="4389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1664208" y="4297680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WARNER PLAY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4389120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9978847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2023 a fev 2024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66928" y="4773168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66928" y="4956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1664208" y="4864608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VAREJO</a:t>
            </a:r>
            <a:endParaRPr lang="en-US" sz="2100" dirty="0"/>
          </a:p>
        </p:txBody>
      </p:sp>
      <p:sp>
        <p:nvSpPr>
          <p:cNvPr id="27" name="Text 23"/>
          <p:cNvSpPr txBox="1"/>
          <p:nvPr/>
        </p:nvSpPr>
        <p:spPr>
          <a:xfrm>
            <a:off x="7269480" y="4956048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Marketing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9978847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a mar 2023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66928" y="5340096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66928" y="5522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1664208" y="5431536"/>
            <a:ext cx="5513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MUTATO — BRAHMA</a:t>
            </a:r>
            <a:endParaRPr lang="en-US" sz="2100" dirty="0"/>
          </a:p>
        </p:txBody>
      </p:sp>
      <p:sp>
        <p:nvSpPr>
          <p:cNvPr id="32" name="Text 28"/>
          <p:cNvSpPr txBox="1"/>
          <p:nvPr/>
        </p:nvSpPr>
        <p:spPr>
          <a:xfrm>
            <a:off x="7269480" y="5522976"/>
            <a:ext cx="2599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9978847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jun 2019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66928" y="5907024"/>
            <a:ext cx="11057839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pic>
        <p:nvPicPr>
          <p:cNvPr id="35" name="Image 2" descr="/home/user/site-portf-lio-adilson/site-arcade/ppt/img/spr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087" y="5440680"/>
            <a:ext cx="868680" cy="951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680517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3627599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Influência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dezembro de 2025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49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0316"/>
            <a:ext cx="5415991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na gestão da frente de 500 microinfluenciadores, acompanhando entregas, monitorando conteúdos, gerenciando a conversa em tempo real e garantindo a execução da estratégia durante a campanha. Também atuei na captação e edição de vídeos no local, conectando a ativação presencial ao conteúdo digital.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481236"/>
            <a:ext cx="41148" cy="12816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481236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EXÉRCITO DE REEVENDEDORES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3737268"/>
            <a:ext cx="5269687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creators visitaram concessionárias, participaram de test-drives e estiveram no estande da Leapmotor durante o Salão do Automóvel, mostrando o C10 a partir de diferentes estilos de vida. Minha atuação aconteceu justamente nesse ponto de encontro entre creators, marca, comunidade e evento, acompanhando as entregas e produzindo conteúdo enquanto a ação acontecia.</a:t>
            </a:r>
            <a:endParaRPr lang="en-US" sz="1000" dirty="0"/>
          </a:p>
        </p:txBody>
      </p:sp>
      <p:pic>
        <p:nvPicPr>
          <p:cNvPr id="12" name="Image 4" descr="/home/user/site-portf-lio-adilson/site-arcade/ppt/img/02-zmes-leapmoto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093119"/>
            <a:ext cx="5074920" cy="285464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5057489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no Salão do Automóvel</a:t>
            </a:r>
            <a:endParaRPr lang="en-US" sz="1000" dirty="0"/>
          </a:p>
        </p:txBody>
      </p:sp>
      <p:pic>
        <p:nvPicPr>
          <p:cNvPr id="14" name="Image 5" descr="/home/user/site-portf-lio-adilson/site-arcade/ppt/img/spcase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247" y="56692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680517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4471724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2026, no ar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5736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1112"/>
            <a:ext cx="5415991" cy="135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como Community Manager do Tesouro Direto, participando do planejamento e execução de conteúdos para redes sociais, publicação em feed e stories, monitoramento de interações, moderação de comentários e mensagens e atendimento ao público (SAC 2.0). Também responsável pelo acompanhamento de métricas de alcance e engajamento e pela elaboração de relatórios e aprendizados para orientar a estratégia de conteúdo.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914340"/>
            <a:ext cx="41148" cy="16626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914340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“POSSO SER DIRETO?”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4170372"/>
            <a:ext cx="5269687" cy="138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campanha criada pela Zmes para o Tesouro Direto trouxe Marta, seis vezes eleita melhor jogadora do mundo, para falar sobre investimentos usando a linguagem do futebol em um ano de Copa. Minha atuação aconteceu na ponta da comunicação: transformando a campanha em conversa com a comunidade e desenvolvendo conteúdos para as redes sociais. Além da gestão diária das interações, participei da construção e execução de conteúdos que buscavam tornar um assunto tradicionalmente complexo mais próximo, simples e relevante para quem ainda enxergava investimentos como algo distante.</a:t>
            </a:r>
            <a:endParaRPr lang="en-US" sz="1000" dirty="0"/>
          </a:p>
        </p:txBody>
      </p:sp>
      <p:pic>
        <p:nvPicPr>
          <p:cNvPr id="12" name="Image 4" descr="/home/user/site-portf-lio-adilson/site-arcade/ppt/img/03-zmes-tesouro-diret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89467"/>
            <a:ext cx="3310128" cy="186194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456114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“Posso ser direto?”, com Marta</a:t>
            </a:r>
            <a:endParaRPr lang="en-US" sz="1000" dirty="0"/>
          </a:p>
        </p:txBody>
      </p:sp>
      <p:pic>
        <p:nvPicPr>
          <p:cNvPr id="14" name="Image 5" descr="/home/user/site-portf-lio-adilson/site-arcade/ppt/img/07-tesouro-direto-rend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589467"/>
            <a:ext cx="1046528" cy="186194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4114800" y="456114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criado por mim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224536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2633883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 Pleno · ℓiⱴε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2025 a jul 2025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49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0316"/>
            <a:ext cx="5415991" cy="135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na gestão da comunidade e no relacionamento com criadores, identificando tendências e transformando movimentos do TikTok em oportunidades de conteúdo para a marca. Desenvolvimento de briefings, curadoria de creators, gestão de calendário AON e publicação via Brandwatch, além de interação com a comunidade e busca ativa por oportunidades de conversa em páginas e perfis parceiros.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913544"/>
            <a:ext cx="41148" cy="16626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913544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BIENAL DO LIVRO RIO 2025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4169576"/>
            <a:ext cx="5269687" cy="138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Bienal, com o TikTok como patrocinador master, atuei diretamente na cobertura digital do evento e na conexão entre a experiência presencial e a comunidade online. Com briefings rápidos, captação própria e edição no chão da feira, produzi conteúdos em tempo real, reduzindo o caminho entre o estande e a timeline e mantendo a presença digital da marca durante todos os dias do evento. A cobertura acompanhou de perto o ecossistema BookTok, com creators e booktokers presentes no estande e a #BookTokBrasil ocupando também os telões do evento.</a:t>
            </a:r>
            <a:endParaRPr lang="en-US" sz="1000" dirty="0"/>
          </a:p>
        </p:txBody>
      </p:sp>
      <p:pic>
        <p:nvPicPr>
          <p:cNvPr id="12" name="Image 4" descr="/home/user/site-portf-lio-adilson/site-arcade/ppt/img/case2-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82980"/>
            <a:ext cx="5074920" cy="50749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61676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Bienal do Livro Rio 2025 — estande do TikTok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224536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2446893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2023 a fev 2024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5736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1112"/>
            <a:ext cx="5415991" cy="1135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na gestão da comunidade e no relacionamento com o público geek, além de campanhas de lançamento de filmes e games em parceria com o ecossistema de creators de cultura pop e eSports. Prospecção de perfis com afinidade de marca, desenvolvimento de briefings, monitoramento de tendências, criação de FAQs, gestão de crise e moderação de grandes transmissões ao vivo.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698186"/>
            <a:ext cx="41148" cy="12816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698186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CREATORS + ESPORTS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3954218"/>
            <a:ext cx="5269687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em campanhas de lançamentos como Barbie, Aquaman 2, Wonka, Mortal Kombat 1, Godzilla e Kong, entre outros, conectando propriedades da Warner ao repertório de diferentes comunidades e creators. Também fui responsável pela moderação de transmissões de alto volume, como a EVO 2023 e a Liga Latina de Mortal Kombat 11, garantindo uma experiência segura e interativa para a comunidade.</a:t>
            </a:r>
            <a:endParaRPr lang="en-US" sz="1000" dirty="0"/>
          </a:p>
        </p:txBody>
      </p:sp>
      <p:pic>
        <p:nvPicPr>
          <p:cNvPr id="12" name="Image 4" descr="/home/user/site-portf-lio-adilson/site-arcade/ppt/img/yt-warner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28527"/>
            <a:ext cx="5074920" cy="285464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48928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Campeonato de MK11 · moderação da transmissão ao vivo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566928" y="5203793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Assistir no YouTube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224536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2019488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Marketing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a mar 2023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5736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1112"/>
            <a:ext cx="5415991" cy="1135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simultânea para Casas Bahia e Ponto, conciliando diferentes comunidades, tons de voz e demandas em uma rotina de alto volume. Responsável por interação com a comunidade, criação de FAQs, gestão de crise, calendário AON e publicação via Postgrain, além de social listening quinzenal e mensal para transformar conversas e comportamentos da internet em insights para as marcas.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698186"/>
            <a:ext cx="41148" cy="10911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698186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BLACK FRIDAY 2022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3954218"/>
            <a:ext cx="5269687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Atuei como Assistente de Coordenação durante a semana mais intensa do calendário do varejo, apoiando a equipe responsável pelo monitoramento e interação nas redes sociais. A experiência exigiu agilidade para identificar oportunidades, priorizar demandas e garantir respostas rápidas e alinhadas ao posicionamento das marcas em tempo real.</a:t>
            </a:r>
            <a:endParaRPr lang="en-US" sz="1000" dirty="0"/>
          </a:p>
        </p:txBody>
      </p:sp>
      <p:pic>
        <p:nvPicPr>
          <p:cNvPr id="12" name="Image 4" descr="/home/user/site-portf-lio-adilson/site-arcade/ppt/img/case4-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495003"/>
            <a:ext cx="5074920" cy="405087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5655605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redes sociais na Black Friday</a:t>
            </a:r>
            <a:endParaRPr lang="en-US" sz="1000" dirty="0"/>
          </a:p>
        </p:txBody>
      </p:sp>
      <p:pic>
        <p:nvPicPr>
          <p:cNvPr id="14" name="Image 5" descr="/home/user/site-portf-lio-adilson/site-arcade/ppt/img/spcase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247" y="5669280"/>
            <a:ext cx="731520" cy="72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88481" cy="256032"/>
          </a:xfrm>
          <a:prstGeom prst="rect">
            <a:avLst/>
          </a:prstGeom>
        </p:spPr>
      </p:pic>
      <p:pic>
        <p:nvPicPr>
          <p:cNvPr id="3" name="Image 1" descr="/home/user/site-portf-lio-adilson/site-arcade/ppt/img/n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20624"/>
            <a:ext cx="224536" cy="155448"/>
          </a:xfrm>
          <a:prstGeom prst="rect">
            <a:avLst/>
          </a:prstGeom>
        </p:spPr>
      </p:pic>
      <p:pic>
        <p:nvPicPr>
          <p:cNvPr id="4" name="Image 2" descr="/home/user/site-portf-lio-adilson/site-arcade/ppt/img/c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713232"/>
            <a:ext cx="3547461" cy="4754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8776" y="1280160"/>
            <a:ext cx="33579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566691" y="1280160"/>
            <a:ext cx="2058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jun 2019</a:t>
            </a:r>
            <a:endParaRPr lang="en-US" sz="1200" dirty="0"/>
          </a:p>
        </p:txBody>
      </p:sp>
      <p:pic>
        <p:nvPicPr>
          <p:cNvPr id="7" name="Image 3" descr="/home/user/site-portf-lio-adilson/site-arcade/ppt/img/chips-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45920"/>
            <a:ext cx="5415991" cy="605736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08776" y="2471112"/>
            <a:ext cx="5415991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no reality “O Próximo Nº 1”, projeto de Brahma em parceria com o VillaMix, com foco em gestão da comunidade durante as transmissões ao vivo, interação com o público e criação de conteúdos para ampliar a conversa em torno do programa.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6208776" y="3482032"/>
            <a:ext cx="41148" cy="1091184"/>
          </a:xfrm>
          <a:prstGeom prst="rect">
            <a:avLst/>
          </a:prstGeom>
          <a:solidFill>
            <a:srgbClr val="FF2E35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355080" y="3482032"/>
            <a:ext cx="5269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— CONTEÚDO QUE VIRA CONVERSA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355080" y="3738064"/>
            <a:ext cx="5269687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simplesmente divulgar o programa, desenvolvi GIFs personalizados para serem utilizados pela comunidade durante as conversas sobre o reality. A iniciativa transformou o conteúdo da marca em uma ferramenta de interação entre os fãs. O programa ultrapassou 98 milhões de views no YouTube.</a:t>
            </a:r>
            <a:endParaRPr lang="en-US" sz="1000" dirty="0"/>
          </a:p>
        </p:txBody>
      </p:sp>
      <p:pic>
        <p:nvPicPr>
          <p:cNvPr id="12" name="Image 4" descr="/home/user/site-portf-lio-adilson/site-arcade/ppt/img/yt-brahma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28527"/>
            <a:ext cx="5074920" cy="285464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6928" y="48928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Nº 1 · playlist completa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566928" y="5203793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Assistir no YouTube</a:t>
            </a:r>
            <a:endParaRPr lang="en-US" sz="1150" dirty="0"/>
          </a:p>
        </p:txBody>
      </p:sp>
      <p:pic>
        <p:nvPicPr>
          <p:cNvPr id="15" name="Image 5" descr="/home/user/site-portf-lio-adilson/site-arcade/ppt/img/spcase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3247" y="56692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2331720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invent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4040540" cy="8412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157984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Listening &amp; Conteúdo</a:t>
            </a:r>
            <a:endParaRPr lang="en-US" sz="1400" dirty="0"/>
          </a:p>
        </p:txBody>
      </p:sp>
      <p:pic>
        <p:nvPicPr>
          <p:cNvPr id="5" name="Image 2" descr="/home/user/site-portf-lio-adilson/site-arcade/ppt/img/niv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87168"/>
            <a:ext cx="1146707" cy="13258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66928" y="2798064"/>
            <a:ext cx="1141171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676656" y="279806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BuzzMonitor</a:t>
            </a:r>
            <a:endParaRPr lang="en-US" sz="1050" dirty="0"/>
          </a:p>
        </p:txBody>
      </p:sp>
      <p:sp>
        <p:nvSpPr>
          <p:cNvPr id="8" name="Shape 3"/>
          <p:cNvSpPr/>
          <p:nvPr/>
        </p:nvSpPr>
        <p:spPr>
          <a:xfrm>
            <a:off x="1799539" y="2798064"/>
            <a:ext cx="1060704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1909267" y="279806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Brandwatch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2951683" y="2798064"/>
            <a:ext cx="980237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3061411" y="2798064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Stilingue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66928" y="3163824"/>
            <a:ext cx="980237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76656" y="3163824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Postgrain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1638605" y="3163824"/>
            <a:ext cx="658368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748333" y="316382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mLabs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388413" y="3163824"/>
            <a:ext cx="899770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2498141" y="3163824"/>
            <a:ext cx="680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66928" y="3529584"/>
            <a:ext cx="738835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6656" y="3529584"/>
            <a:ext cx="519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1397203" y="3529584"/>
            <a:ext cx="1302106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506931" y="3529584"/>
            <a:ext cx="108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Effects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90749" y="3529584"/>
            <a:ext cx="980237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900477" y="3529584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66928" y="3895344"/>
            <a:ext cx="658368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76656" y="3895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316736" y="3895344"/>
            <a:ext cx="1060704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1426464" y="38953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2468880" y="3895344"/>
            <a:ext cx="899770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2578608" y="3895344"/>
            <a:ext cx="680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66928" y="4261104"/>
            <a:ext cx="1945843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76656" y="4261104"/>
            <a:ext cx="17263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Google Sheets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66928" y="4626864"/>
            <a:ext cx="1543507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76656" y="4626864"/>
            <a:ext cx="13240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4368698" y="2157984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</a:t>
            </a:r>
            <a:endParaRPr lang="en-US" sz="1400" dirty="0"/>
          </a:p>
        </p:txBody>
      </p:sp>
      <p:pic>
        <p:nvPicPr>
          <p:cNvPr id="35" name="Image 3" descr="/home/user/site-portf-lio-adilson/site-arcade/ppt/img/niv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8" y="2487168"/>
            <a:ext cx="1150290" cy="13258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4368698" y="2798064"/>
            <a:ext cx="1784909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478426" y="2798064"/>
            <a:ext cx="1565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de creator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368698" y="3163824"/>
            <a:ext cx="2348179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4478426" y="3163824"/>
            <a:ext cx="21287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de influenciadores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368698" y="3529584"/>
            <a:ext cx="283098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4478426" y="3529584"/>
            <a:ext cx="26115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análise de resultados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368698" y="3895344"/>
            <a:ext cx="170444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4478426" y="3895344"/>
            <a:ext cx="14849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entrega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8170469" y="2157984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Creators</a:t>
            </a:r>
            <a:endParaRPr lang="en-US" sz="1400" dirty="0"/>
          </a:p>
        </p:txBody>
      </p:sp>
      <p:pic>
        <p:nvPicPr>
          <p:cNvPr id="45" name="Image 4" descr="/home/user/site-portf-lio-adilson/site-arcade/ppt/img/niv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469" y="2487168"/>
            <a:ext cx="1103706" cy="13258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8170469" y="2798064"/>
            <a:ext cx="1060704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8280197" y="279806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Creator.co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9322613" y="2798064"/>
            <a:ext cx="658368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9432341" y="279806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10072421" y="2798064"/>
            <a:ext cx="738835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10182149" y="2798064"/>
            <a:ext cx="519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YouPix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8170469" y="3163824"/>
            <a:ext cx="1382573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280197" y="3163824"/>
            <a:ext cx="11631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Kozmos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9644482" y="3163824"/>
            <a:ext cx="1141171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9754210" y="316382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Ads</a:t>
            </a:r>
            <a:endParaRPr lang="en-US" sz="1050" dirty="0"/>
          </a:p>
        </p:txBody>
      </p:sp>
      <p:sp>
        <p:nvSpPr>
          <p:cNvPr id="56" name="Text 49"/>
          <p:cNvSpPr txBox="1"/>
          <p:nvPr/>
        </p:nvSpPr>
        <p:spPr>
          <a:xfrm>
            <a:off x="566928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do personagem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566928" y="5669280"/>
            <a:ext cx="1239926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2E35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694944" y="5669280"/>
            <a:ext cx="983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1934870" y="5669280"/>
            <a:ext cx="86045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2062886" y="5669280"/>
            <a:ext cx="604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2923337" y="5669280"/>
            <a:ext cx="1315822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2E35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3051353" y="5669280"/>
            <a:ext cx="10597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autenticidade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4367174" y="5669280"/>
            <a:ext cx="1391717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4495190" y="5669280"/>
            <a:ext cx="11356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de humor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5886907" y="5669280"/>
            <a:ext cx="1391717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2E35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6014923" y="5669280"/>
            <a:ext cx="11356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7406640" y="5669280"/>
            <a:ext cx="1391717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7534656" y="5669280"/>
            <a:ext cx="11356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estético</a:t>
            </a:r>
            <a:endParaRPr lang="en-US" sz="1050" dirty="0"/>
          </a:p>
        </p:txBody>
      </p:sp>
      <p:sp>
        <p:nvSpPr>
          <p:cNvPr id="69" name="Shape 62"/>
          <p:cNvSpPr/>
          <p:nvPr/>
        </p:nvSpPr>
        <p:spPr>
          <a:xfrm>
            <a:off x="8926373" y="5669280"/>
            <a:ext cx="1012241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2E35"/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9054389" y="5669280"/>
            <a:ext cx="7562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</a:t>
            </a:r>
            <a:endParaRPr lang="en-US" sz="1050" dirty="0"/>
          </a:p>
        </p:txBody>
      </p:sp>
      <p:sp>
        <p:nvSpPr>
          <p:cNvPr id="71" name="Shape 64"/>
          <p:cNvSpPr/>
          <p:nvPr/>
        </p:nvSpPr>
        <p:spPr>
          <a:xfrm>
            <a:off x="10066630" y="5669280"/>
            <a:ext cx="1164031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10194646" y="5669280"/>
            <a:ext cx="907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566928" y="6089904"/>
            <a:ext cx="1012241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2E35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694944" y="6089904"/>
            <a:ext cx="7562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</a:t>
            </a:r>
            <a:endParaRPr lang="en-US" sz="1050" dirty="0"/>
          </a:p>
        </p:txBody>
      </p:sp>
      <p:sp>
        <p:nvSpPr>
          <p:cNvPr id="75" name="Shape 68"/>
          <p:cNvSpPr/>
          <p:nvPr/>
        </p:nvSpPr>
        <p:spPr>
          <a:xfrm>
            <a:off x="1707185" y="6089904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1835201" y="6089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inglês intermediário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1901249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mar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3001726" cy="8412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029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atendidas em varejo, automotivo, entretenimento, finanças e causas.</a:t>
            </a:r>
            <a:endParaRPr lang="en-US" sz="1250" dirty="0"/>
          </a:p>
        </p:txBody>
      </p:sp>
      <p:sp>
        <p:nvSpPr>
          <p:cNvPr id="5" name="Shape 1"/>
          <p:cNvSpPr/>
          <p:nvPr/>
        </p:nvSpPr>
        <p:spPr>
          <a:xfrm>
            <a:off x="566928" y="248716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6" name="Image 2" descr="/home/user/site-portf-lio-adilson/site-arcade/ppt/img/marca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76465"/>
            <a:ext cx="1593433" cy="31868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818729" y="248716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8" name="Image 3" descr="/home/user/site-portf-lio-adilson/site-arcade/ppt/img/marca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329" y="2832871"/>
            <a:ext cx="1593433" cy="40587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070531" y="248716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0" name="Image 4" descr="/home/user/site-portf-lio-adilson/site-arcade/ppt/img/marca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017" y="2715768"/>
            <a:ext cx="989662" cy="64008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7322332" y="248716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2" name="Image 5" descr="/home/user/site-portf-lio-adilson/site-arcade/ppt/img/marca0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932" y="2836629"/>
            <a:ext cx="1593433" cy="398358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9574134" y="248716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4" name="Image 6" descr="/home/user/site-portf-lio-adilson/site-arcade/ppt/img/marca0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734" y="2748990"/>
            <a:ext cx="1593433" cy="573636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566928" y="376732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6" name="Image 7" descr="/home/user/site-portf-lio-adilson/site-arcade/ppt/img/marca0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4021183"/>
            <a:ext cx="1593433" cy="589570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2818729" y="376732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8" name="Image 8" descr="/home/user/site-portf-lio-adilson/site-arcade/ppt/img/marca0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2046" y="3995928"/>
            <a:ext cx="1524000" cy="640080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5070531" y="376732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0" name="Image 9" descr="/home/user/site-portf-lio-adilson/site-arcade/ppt/img/marca07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6154" y="3995928"/>
            <a:ext cx="1019387" cy="640080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7322332" y="376732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2" name="Image 10" descr="/home/user/site-portf-lio-adilson/site-arcade/ppt/img/marca0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4946" y="3995928"/>
            <a:ext cx="1145406" cy="640080"/>
          </a:xfrm>
          <a:prstGeom prst="rect">
            <a:avLst/>
          </a:prstGeom>
        </p:spPr>
      </p:pic>
      <p:sp>
        <p:nvSpPr>
          <p:cNvPr id="23" name="Shape 10"/>
          <p:cNvSpPr/>
          <p:nvPr/>
        </p:nvSpPr>
        <p:spPr>
          <a:xfrm>
            <a:off x="9574134" y="376732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4" name="Image 11" descr="/home/user/site-portf-lio-adilson/site-arcade/ppt/img/marca0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2467" y="3995928"/>
            <a:ext cx="1573967" cy="640080"/>
          </a:xfrm>
          <a:prstGeom prst="rect">
            <a:avLst/>
          </a:prstGeom>
        </p:spPr>
      </p:pic>
      <p:sp>
        <p:nvSpPr>
          <p:cNvPr id="25" name="Shape 11"/>
          <p:cNvSpPr/>
          <p:nvPr/>
        </p:nvSpPr>
        <p:spPr>
          <a:xfrm>
            <a:off x="566928" y="504748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6" name="Image 12" descr="/home/user/site-portf-lio-adilson/site-arcade/ppt/img/marca1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650" y="5276088"/>
            <a:ext cx="1151189" cy="640080"/>
          </a:xfrm>
          <a:prstGeom prst="rect">
            <a:avLst/>
          </a:prstGeom>
        </p:spPr>
      </p:pic>
      <p:sp>
        <p:nvSpPr>
          <p:cNvPr id="27" name="Shape 12"/>
          <p:cNvSpPr/>
          <p:nvPr/>
        </p:nvSpPr>
        <p:spPr>
          <a:xfrm>
            <a:off x="2818729" y="504748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8" name="Image 13" descr="/home/user/site-portf-lio-adilson/site-arcade/ppt/img/marca1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4159" y="5276088"/>
            <a:ext cx="1219775" cy="640080"/>
          </a:xfrm>
          <a:prstGeom prst="rect">
            <a:avLst/>
          </a:prstGeom>
        </p:spPr>
      </p:pic>
      <p:sp>
        <p:nvSpPr>
          <p:cNvPr id="29" name="Shape 13"/>
          <p:cNvSpPr/>
          <p:nvPr/>
        </p:nvSpPr>
        <p:spPr>
          <a:xfrm>
            <a:off x="5070531" y="5047488"/>
            <a:ext cx="2050633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30" name="Image 14" descr="/home/user/site-portf-lio-adilson/site-arcade/ppt/img/marca1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99131" y="5383670"/>
            <a:ext cx="1593433" cy="4249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1901249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pla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2842399" cy="841248"/>
          </a:xfrm>
          <a:prstGeom prst="rect">
            <a:avLst/>
          </a:prstGeom>
        </p:spPr>
      </p:pic>
      <p:pic>
        <p:nvPicPr>
          <p:cNvPr id="4" name="Image 2" descr="/home/user/site-portf-lio-adilson/site-arcade/ppt/img/v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72968"/>
            <a:ext cx="1633451" cy="96012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66928" y="4361688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microinfluenciadores ativados no lançamento da Leapmotor</a:t>
            </a:r>
            <a:endParaRPr lang="en-US" sz="1200" dirty="0"/>
          </a:p>
        </p:txBody>
      </p:sp>
      <p:pic>
        <p:nvPicPr>
          <p:cNvPr id="6" name="Image 3" descr="/home/user/site-portf-lio-adilson/site-arcade/ppt/img/v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675" y="3172968"/>
            <a:ext cx="1776845" cy="96012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2840675" y="4361688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views no YouTube no reality em que atuei pela Mutato</a:t>
            </a:r>
            <a:endParaRPr lang="en-US" sz="1200" dirty="0"/>
          </a:p>
        </p:txBody>
      </p:sp>
      <p:pic>
        <p:nvPicPr>
          <p:cNvPr id="8" name="Image 4" descr="/home/user/site-portf-lio-adilson/site-arcade/ppt/img/v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422" y="3172968"/>
            <a:ext cx="1034935" cy="96012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5114422" y="4361688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construindo comunidades, de ONG a gigantes do varejo</a:t>
            </a:r>
            <a:endParaRPr lang="en-US" sz="1200" dirty="0"/>
          </a:p>
        </p:txBody>
      </p:sp>
      <p:pic>
        <p:nvPicPr>
          <p:cNvPr id="10" name="Image 5" descr="/home/user/site-portf-lio-adilson/site-arcade/ppt/img/v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169" y="3172968"/>
            <a:ext cx="610985" cy="96012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7388169" y="4361688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nacionais em que atuei como elenco: Amstel Ultra e TV Globo</a:t>
            </a:r>
            <a:endParaRPr lang="en-US" sz="1200" dirty="0"/>
          </a:p>
        </p:txBody>
      </p:sp>
      <p:pic>
        <p:nvPicPr>
          <p:cNvPr id="12" name="Image 6" descr="/home/user/site-portf-lio-adilson/site-arcade/ppt/img/v-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916" y="3172968"/>
            <a:ext cx="1390304" cy="96012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661916" y="4361688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atendidas em varejo, auto, entretenimento e causas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2008866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ce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42416"/>
            <a:ext cx="3046337" cy="8412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029968"/>
            <a:ext cx="10607040" cy="515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digo que conheço os dois lados da câmera, é literal: já fui selecionado como elenco de duas campanhas nacionais. Sei o que uma marca espera de quem aparece, porque já estive na entrega.</a:t>
            </a:r>
            <a:endParaRPr lang="en-US" sz="12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60320"/>
            <a:ext cx="520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Amstel Ultra: "Não conte calorias, conte rolês"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2898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2021 · lançamento nacional</a:t>
            </a:r>
            <a:endParaRPr lang="en-US" sz="1100" dirty="0"/>
          </a:p>
        </p:txBody>
      </p:sp>
      <p:pic>
        <p:nvPicPr>
          <p:cNvPr id="7" name="Image 2" descr="/home/user/site-portf-lio-adilson/site-arcade/ppt/img/05-vide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82112"/>
            <a:ext cx="3291840" cy="185021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66928" y="5196919"/>
            <a:ext cx="5208880" cy="819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estreia da Amstel Ultra, a puro malte low-carb, sem glúten e com 47% menos calorias. O conceito: um contador de calorias fica na tela enquanto as pessoas aproveitam a vida, até uma fita adesiva cobrir o número, convidando a contar momentos em vez de calorias. Participei do elenco das peças do lançamento.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566928" y="6126480"/>
            <a:ext cx="520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Matéria no B9 ↗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415888" y="2560320"/>
            <a:ext cx="520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Globo: "Fique Antenado"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415888" y="2898648"/>
            <a:ext cx="520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· Copa do Mundo</a:t>
            </a:r>
            <a:endParaRPr lang="en-US" sz="1100" dirty="0"/>
          </a:p>
        </p:txBody>
      </p:sp>
      <p:pic>
        <p:nvPicPr>
          <p:cNvPr id="12" name="Image 3" descr="/home/user/site-portf-lio-adilson/site-arcade/ppt/img/06-vide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3182112"/>
            <a:ext cx="3291840" cy="185021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15888" y="5196919"/>
            <a:ext cx="5208880" cy="819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C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vésperas da Copa, a Globo lançou a campanha para ampliar o acesso à TV aberta com a antena digital, nascida da tensão do "gol surpresa": ninguém merece ouvir o vizinho gritar gol antes de ver o lance. Com filme, Maratona na programação e ações nas redes, a campanha orientou o público a garantir o sinal em tempo real. Participei do elenco das peças digitais, publicadas no perfil da TV Globo.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6415888" y="6126480"/>
            <a:ext cx="520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Matéria no G1 ↗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ite-portf-lio-adilson/site-arcade/ppt/img/f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516" y="868680"/>
            <a:ext cx="3192663" cy="310896"/>
          </a:xfrm>
          <a:prstGeom prst="rect">
            <a:avLst/>
          </a:prstGeom>
        </p:spPr>
      </p:pic>
      <p:pic>
        <p:nvPicPr>
          <p:cNvPr id="3" name="Image 1" descr="/home/user/site-portf-lio-adilson/site-arcade/ppt/img/t-mis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45" y="1353312"/>
            <a:ext cx="6784006" cy="960120"/>
          </a:xfrm>
          <a:prstGeom prst="rect">
            <a:avLst/>
          </a:prstGeom>
        </p:spPr>
      </p:pic>
      <p:pic>
        <p:nvPicPr>
          <p:cNvPr id="4" name="Image 2" descr="/home/user/site-portf-lio-adilson/site-arcade/ppt/img/spr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628" y="2514600"/>
            <a:ext cx="1234440" cy="135281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38248" y="4114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9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sua marca precisa de alguém que cuide da conversa, saiba brifar creator falando de um lugar que já ocupou (e ainda grave, edite e entregue o vídeo), a gente combina.</a:t>
            </a:r>
            <a:endParaRPr lang="en-US" sz="1300" dirty="0"/>
          </a:p>
        </p:txBody>
      </p:sp>
      <p:sp>
        <p:nvSpPr>
          <p:cNvPr id="6" name="Shape 1"/>
          <p:cNvSpPr/>
          <p:nvPr/>
        </p:nvSpPr>
        <p:spPr>
          <a:xfrm>
            <a:off x="1752448" y="4901184"/>
            <a:ext cx="2307946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1752448" y="4992624"/>
            <a:ext cx="23079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750" dirty="0"/>
          </a:p>
        </p:txBody>
      </p:sp>
      <p:sp>
        <p:nvSpPr>
          <p:cNvPr id="8" name="Text 3"/>
          <p:cNvSpPr txBox="1"/>
          <p:nvPr/>
        </p:nvSpPr>
        <p:spPr>
          <a:xfrm>
            <a:off x="1752448" y="5212080"/>
            <a:ext cx="2307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aserafimjr@hotmail.com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243273" y="4901184"/>
            <a:ext cx="1719072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243273" y="49926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243273" y="52120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(11) 97599-9561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145225" y="4901184"/>
            <a:ext cx="1550822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145225" y="4992624"/>
            <a:ext cx="15508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750" dirty="0"/>
          </a:p>
        </p:txBody>
      </p:sp>
      <p:sp>
        <p:nvSpPr>
          <p:cNvPr id="14" name="Text 9"/>
          <p:cNvSpPr txBox="1"/>
          <p:nvPr/>
        </p:nvSpPr>
        <p:spPr>
          <a:xfrm>
            <a:off x="6145225" y="5212080"/>
            <a:ext cx="1550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@issoeadilson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878928" y="4901184"/>
            <a:ext cx="256032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878928" y="4992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17" name="Text 12"/>
          <p:cNvSpPr txBox="1"/>
          <p:nvPr/>
        </p:nvSpPr>
        <p:spPr>
          <a:xfrm>
            <a:off x="7878928" y="5212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in/adilson-serafim-junior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479188" y="5687568"/>
            <a:ext cx="3233318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479188" y="5779008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ONLINE</a:t>
            </a:r>
            <a:endParaRPr lang="en-US" sz="750" dirty="0"/>
          </a:p>
        </p:txBody>
      </p:sp>
      <p:sp>
        <p:nvSpPr>
          <p:cNvPr id="20" name="Text 15"/>
          <p:cNvSpPr txBox="1"/>
          <p:nvPr/>
        </p:nvSpPr>
        <p:spPr>
          <a:xfrm>
            <a:off x="4479188" y="5998464"/>
            <a:ext cx="32333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site-portf-lio-adilson.vercel.app</a:t>
            </a:r>
            <a:endParaRPr lang="en-US" sz="1200" dirty="0"/>
          </a:p>
        </p:txBody>
      </p:sp>
      <p:pic>
        <p:nvPicPr>
          <p:cNvPr id="21" name="Image 3" descr="/home/user/site-portf-lio-adilson/site-arcade/ppt/img/loc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291072"/>
            <a:ext cx="877948" cy="132588"/>
          </a:xfrm>
          <a:prstGeom prst="rect">
            <a:avLst/>
          </a:prstGeom>
        </p:spPr>
      </p:pic>
      <p:pic>
        <p:nvPicPr>
          <p:cNvPr id="22" name="Image 4" descr="/home/user/site-portf-lio-adilson/site-arcade/ppt/img/assinatur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786" y="6291072"/>
            <a:ext cx="1823981" cy="132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— Adilson Serafim Jr.</dc:title>
  <dc:subject>PptxGenJS Presentation</dc:subject>
  <dc:creator>Adilson Serafim Junior</dc:creator>
  <cp:lastModifiedBy>Adilson Serafim Junior</cp:lastModifiedBy>
  <cp:revision>1</cp:revision>
  <dcterms:created xsi:type="dcterms:W3CDTF">2026-09-14T17:16:00Z</dcterms:created>
  <dcterms:modified xsi:type="dcterms:W3CDTF">2026-09-14T17:16:00Z</dcterms:modified>
</cp:coreProperties>
</file>